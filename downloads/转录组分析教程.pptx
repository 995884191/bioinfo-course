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AED96-DC81-8C43-7BFB-F89C2B6A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3FD967-1266-F79A-096B-055979A4E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5AF8-579F-4A7D-B6EE-BF6B049C3182}" type="datetimeFigureOut">
              <a:rPr lang="zh-CN" altLang="en-US" smtClean="0"/>
              <a:t>2024-04-16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BCC945-65DF-CC17-A7FE-07A695716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C71C09-363D-4926-3143-4279FE95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9BDB1-4801-4406-B0E1-368D3D364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9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CA722B-D4C6-5C45-498B-75E531CE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B0A7B4-A0DF-8000-CA97-2FAA61702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BC4662-4ED9-9C8F-D81D-D464F93CA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65AF8-579F-4A7D-B6EE-BF6B049C3182}" type="datetimeFigureOut">
              <a:rPr lang="zh-CN" altLang="en-US" smtClean="0"/>
              <a:t>2024-04-16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D30984-2DF2-498A-40F3-CD9F5316A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9297AB-46E3-79FE-BE04-5C1C56DA3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9BDB1-4801-4406-B0E1-368D3D364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681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309813B-59C4-4F54-FFBC-8E654369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4000">
                <a:latin typeface="+mn-lt"/>
                <a:cs typeface="+mn-ea"/>
                <a:sym typeface="+mn-lt"/>
              </a:rPr>
              <a:t>生信初中</a:t>
            </a:r>
            <a:r>
              <a:rPr lang="en-US" altLang="zh-CN" sz="4000">
                <a:latin typeface="+mn-lt"/>
                <a:cs typeface="+mn-ea"/>
                <a:sym typeface="+mn-lt"/>
              </a:rPr>
              <a:t>-GEO</a:t>
            </a:r>
            <a:r>
              <a:rPr lang="zh-CN" altLang="en-US" sz="4000">
                <a:latin typeface="+mn-lt"/>
                <a:cs typeface="+mn-ea"/>
                <a:sym typeface="+mn-lt"/>
              </a:rPr>
              <a:t>数据挖掘</a:t>
            </a:r>
            <a:endParaRPr lang="zh-CN" altLang="en-US" sz="4000" dirty="0">
              <a:latin typeface="+mn-lt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FC7629-2095-864E-4BF5-716CA76E40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1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A8B9BD1-3A80-842D-2B78-2F6043E7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139ED9-012A-CF02-A1E1-CBA37E5B23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12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E97D112-E08C-62ED-7E99-1E62DA6C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为什么要做数据挖掘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D2F06A-9B51-3508-06BC-D81AE27E4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4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2FF5FC4-2E4D-6F7F-B913-F17347F2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广义的基因有</a:t>
            </a:r>
            <a:r>
              <a:rPr lang="en-US" altLang="zh-CN"/>
              <a:t>6w+</a:t>
            </a:r>
            <a:r>
              <a:rPr lang="zh-CN" altLang="en-US"/>
              <a:t>个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AF2158-2916-08FF-4885-270FEE861F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1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F93803D-771A-D5D0-8310-36DF6F303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表达矩阵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A57F64-627E-D174-E6BB-A4E741063A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5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E2966D9-F092-9DAE-09CD-BB38526E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数据从哪里来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4F09F3-33EE-C624-C35E-4B8CDC7C67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54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B20DAF7-4981-4E47-4FE3-1EFBC625A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有什么类型的数据可挖掘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BFA7CD-5775-E43A-5F6A-5100A85A08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147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541F01E-913B-0030-1860-E21174C3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怎样筛选基因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C9CF42-D5C7-FD02-3BDF-F5DC64D9D6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3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8E966E3-4D0E-CCF8-B54A-42025914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1.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图表介绍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FA558D-7FA9-B173-A4AB-D2005BFC71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6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5D9CF59-23A5-3B6F-0691-2BB08607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1.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热图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D35B20-4BEE-00A8-5441-E462A0612A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58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EBEA2FC-CEEA-BF60-A8FE-30D7834E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散点图和箱线图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6D7257-E406-7C2A-7B51-26B4E3B221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8009947-1137-BA7E-2D38-AE912C0B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箱线图</a:t>
            </a:r>
            <a:endParaRPr lang="zh-CN" altLang="en-US" sz="3600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BCDECE-F2DC-60AC-4770-1CF4DAE45C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85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B21643A-0509-7F11-5A2E-74EA36B2B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箱线图</a:t>
            </a:r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: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单个基因在两组之间的表达量差异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C674E0-BF74-1989-4341-E857F38C32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42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7876682-E794-6C02-D960-725B4CA69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多基因？差异分析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12E129-1396-059C-F5F2-1A021EC645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9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6C70298-291D-9016-0010-DA1736CD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3.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火山图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917103-BBBD-31AD-001F-A54B46611A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2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00A1CAD-C1C4-016D-F7B8-F390E2BC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zh-CN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Foldchange</a:t>
            </a:r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（</a:t>
            </a:r>
            <a:r>
              <a:rPr lang="en-US" altLang="zh-CN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FC</a:t>
            </a:r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）：处理组平均值</a:t>
            </a:r>
            <a:r>
              <a:rPr lang="en-US" altLang="zh-CN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对照组平均值</a:t>
            </a:r>
            <a:endParaRPr lang="en-US" altLang="zh-CN" b="1">
              <a:solidFill>
                <a:schemeClr val="bg1">
                  <a:lumMod val="9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  <a:p>
            <a:pPr marL="0" indent="0" algn="ctr">
              <a:buNone/>
            </a:pPr>
            <a:r>
              <a:rPr lang="en-US" altLang="zh-CN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log2Foldchange</a:t>
            </a:r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（</a:t>
            </a:r>
            <a:r>
              <a:rPr lang="en-US" altLang="zh-CN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logFC</a:t>
            </a:r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）：</a:t>
            </a:r>
            <a:r>
              <a:rPr lang="en-US" altLang="zh-CN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 Foldchange</a:t>
            </a:r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取</a:t>
            </a:r>
            <a:r>
              <a:rPr lang="en-US" altLang="zh-CN" b="1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log2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F9BDF0-10E7-CD85-5B85-71ACD692E5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3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CD6A74B-DA28-78B0-727E-114956E51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芯片差异分析的起点是一个取过</a:t>
            </a:r>
            <a:r>
              <a:rPr lang="en-US" altLang="zh-CN"/>
              <a:t>log</a:t>
            </a:r>
            <a:r>
              <a:rPr lang="zh-CN" altLang="en-US"/>
              <a:t>的表达矩阵</a:t>
            </a:r>
            <a:br>
              <a:rPr lang="en-US" altLang="zh-CN"/>
            </a:br>
            <a:r>
              <a:rPr lang="zh-CN" altLang="en-US"/>
              <a:t>如果拿到的是未</a:t>
            </a:r>
            <a:r>
              <a:rPr lang="en-US" altLang="zh-CN"/>
              <a:t>log</a:t>
            </a:r>
            <a:r>
              <a:rPr lang="zh-CN" altLang="en-US"/>
              <a:t>的矩阵，需要自行</a:t>
            </a:r>
            <a:r>
              <a:rPr lang="en-US" altLang="zh-CN"/>
              <a:t>log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14F1C7-2EE8-BA6F-DCBA-DAB1985ADA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33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6084F4A-F502-9E54-F68F-33645796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z="3600" b="1" i="0" u="none" strike="noStrike" kern="1200" cap="none" spc="0" normalizeH="0" baseline="0" noProof="0">
                <a:ln/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理解 </a:t>
            </a:r>
            <a:r>
              <a:rPr kumimoji="0" lang="en-US" altLang="zh-CN" sz="3600" b="1" i="0" u="none" strike="noStrike" kern="1200" cap="none" spc="0" normalizeH="0" baseline="0" noProof="0">
                <a:ln/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logFC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2C3788-6EF3-CC3F-AC23-7A9B157756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77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1C08AEE-7B8A-E8D5-F01D-3E093C8B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纵坐标已经是</a:t>
            </a:r>
            <a:r>
              <a:rPr lang="en-US" altLang="zh-CN" sz="3600"/>
              <a:t>log</a:t>
            </a:r>
            <a:r>
              <a:rPr lang="zh-CN" altLang="en-US" sz="3600"/>
              <a:t>后的表达量，两个基因的</a:t>
            </a:r>
            <a:r>
              <a:rPr lang="en-US" altLang="zh-CN" sz="3600"/>
              <a:t>logFC</a:t>
            </a:r>
            <a:r>
              <a:rPr lang="zh-CN" altLang="en-US" sz="3600"/>
              <a:t>等于？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26C272-6DB8-0DDC-C616-94822B1627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09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22A162D-4C69-1D6C-1A73-F4768F48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z="3600" b="1" i="0" u="none" strike="noStrike" kern="1200" cap="none" spc="0" normalizeH="0" baseline="0" noProof="0">
                <a:ln/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理解 </a:t>
            </a:r>
            <a:r>
              <a:rPr kumimoji="0" lang="en-US" altLang="zh-CN" sz="3600" b="1" i="0" u="none" strike="noStrike" kern="1200" cap="none" spc="0" normalizeH="0" baseline="0" noProof="0">
                <a:ln/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logFC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781462-A578-DF9A-D06C-90C1D1169C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42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5FDD5B5-D08E-8857-A8FF-B0B9601EA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z="3600" b="1" i="0" u="none" strike="noStrike" kern="1200" cap="none" spc="0" normalizeH="0" baseline="0" noProof="0">
                <a:ln/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理解 </a:t>
            </a:r>
            <a:r>
              <a:rPr kumimoji="0" lang="en-US" altLang="zh-CN" sz="3600" b="1" i="0" u="none" strike="noStrike" kern="1200" cap="none" spc="0" normalizeH="0" baseline="0" noProof="0">
                <a:ln/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logFC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03C077-CE60-C793-CDAB-A2FA5EAB83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66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02C94AB-A8F8-05DD-850B-78BF8908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离离原上谱，因能力不足导致的学术造假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427C95-2729-8A43-7206-F0B404BF68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99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A3BC24E-085B-5DE8-73C9-908343AD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师生关系的最高境界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6B233B-01CC-A51A-C49E-E3B841A0DC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68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98C8FFD-2300-1432-A21A-0BBB9EC5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3.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火山图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AB9037-33A3-BE6A-887E-6F07DE04D1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3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BEB1006-8F43-22A7-A603-F52E62B0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logFC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的常见阈值，没有标准答案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3B4D07-A892-0396-63A9-9EFE64B316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96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BB1A407-F571-3D93-2741-927602D4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3.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火山图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90FECC-C33A-4710-F9AD-A4E97E9715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35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A6FF86D-31E9-2139-0058-AC241DF5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3.</a:t>
            </a:r>
            <a:r>
              <a:rPr lang="zh-CN" altLang="en-US"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火山图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E4AD8B-A0B0-E379-AAFF-D9A5720811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EABA032-DC94-B748-7A80-342984262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3.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火山图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3FD6F4-BAC7-D789-EE69-5707C049B6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84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5D46694-AD81-7363-8F07-EE36FDA0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短暂的懵圈圈预警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B6278F-FEC5-A9CE-AE66-A02F01652E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00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7CC5252-D0ED-BB55-4DD5-F62588C8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4.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主成分分析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A910E4-0574-BC41-9769-21378CAD45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19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039E75E-E200-75A9-FE50-694679DA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1F8103-7CC5-3DD8-8605-44BA9BCCB4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74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A3BF9E9-074E-1ED3-D4F5-23BAC8F3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4.PCA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样本聚类图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D597E4-3794-8C35-F100-89D0312AAA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14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D0943F-5A37-B252-B0F0-17B8DC1C5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4.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主成分分析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2C1E6E-28B2-2AC4-190F-C4EADEE580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805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7108F07-986D-D9CD-E4A7-CD4271A3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图上的点代表样本（中心点除外），</a:t>
            </a:r>
            <a:br>
              <a:rPr lang="en-US" altLang="zh-CN"/>
            </a:br>
            <a:r>
              <a:rPr lang="zh-CN" altLang="en-US"/>
              <a:t>点与点之间的距离代表样本与样本之间的差异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07F6E6-AF9C-763C-9BEB-1E25ADC397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01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3EF3983-11A3-A89A-9D9A-DF2ABE5C3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用于“预实验”，简单查看组间是否有差别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9D3FBA-6019-8FA4-2E33-B9E5971439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941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CBBB5BF-DD03-987F-47CA-9D3E8F27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后生可畏！</a:t>
            </a:r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O(∩_∩)O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哈哈</a:t>
            </a:r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~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3852F3-A8C8-4B61-48AA-8C1C80312F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322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0441BAF-6A1F-077E-B764-AC5C14AF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2. GEO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背景知识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+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表达芯片分析思路</a:t>
            </a:r>
            <a:endParaRPr lang="zh-CN" altLang="en-US" sz="32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51F7E1-1928-F40A-69A5-AF1799A48A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45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A882AE-275F-74C0-061C-DA1B6B27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1.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表达数据实验设计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E5D8B1-8EF2-E2F3-EE51-59FCB75936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74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E279A6E-25B4-CCE1-0D4D-F956D13D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数据库介绍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D03C70-81D2-E20F-9757-9BCF8BBB68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46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6705E7E-DB19-1D39-3A1F-8626B8264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数据库介绍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65422C-5833-4630-7C84-BE1DB7DACB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481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23D379F-95A4-6591-8874-EBBF2D2A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数据库介绍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1495AA-CD87-62E6-2206-7DF99CC623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D2BA5CF-F4C2-CFDA-51E2-B327BB7C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数据库介绍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9256BD-C11E-B005-160B-306F42B427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284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BDA043C-BBC4-3A1C-CE92-DA3AD13C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基因表达芯片的原理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83C318-56F8-3DF1-B69E-1EAD875A50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650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9D7E24E-76DE-93D8-2C01-8B89DB56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分析思路</a:t>
            </a:r>
            <a:endParaRPr kumimoji="1"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4D70B3-380E-EAD4-B0E2-6D27E0BB87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23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90CCD63-C5C3-3D4C-0D70-25C29DDB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</a:t>
            </a:r>
            <a:r>
              <a:rPr lang="zh-CN" altLang="en-US"/>
              <a:t>：为什么不能画全部基因的热图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CD392-17F4-0F11-6881-9C161ABC29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05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D819EE7-E61D-27F3-8866-CD4F1A88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为什么不能画全部基因的热图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7799AD-9FCD-24FC-CEF0-1E1DB44F8C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843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A998C33-F8F7-29CD-A3D8-BB685E84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别人用过的数据我就不能用了吗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6628C5-3490-FFA2-4932-E595E1206B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379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E206A70-189B-1458-3825-B2CF5146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ECB948-E786-B07A-8EC6-3FE9069135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00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165C4A4-E0A6-89BE-4B5C-E35860C4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3.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表达矩阵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797A82-EB30-C20D-F7AE-83462A5BD5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502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5594539-548A-6897-63D2-FE94820D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3.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代码分析流程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BE8FBD-2668-405D-5ED1-FE45459C19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948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909478D-DEA0-0E3A-B383-E242366C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芯片差异分析所需的输入数据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98BA77-979C-94FE-A9A7-A02A1E6AF3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49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DE301A7-07C6-9090-08CF-16892A6C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代码分析流程</a:t>
            </a:r>
            <a:endParaRPr kumimoji="1"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BEE89A-5AD3-4E69-F822-F43EFBF518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42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68BD13-7621-9554-B3AA-04D2CEB7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如何查找数据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EDC9E7-1E26-DD00-37D5-714F961668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143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FA5B531-413B-5CDB-032E-9B44043A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认准表达芯片数据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4D5551-100F-4761-8356-3647C999DC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710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94BEF48-C756-C008-2FC2-7E2B0DC9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检查表达矩阵是否正常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188D3B-1FCF-BB66-3C3B-3946AFF2AF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724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37A6107-43F8-74A1-8FBB-4590F9C5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处理异常样本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CBCFE6-500F-30BC-65BB-6EF88ECBBD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778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C7A30F9-E2DD-AA62-4C6B-1EC0A165B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关于表达矩阵里的负值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AF4C90-1ACF-B7EC-D110-2888CC159E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368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8300E19-F5C7-E957-8D04-7F7518572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表达矩阵与临床信息表格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1C1ABF-FA13-C9BC-3EC2-C455CF6353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116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3D2D59E-BDB2-92EB-78EA-E9D14F23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关于原始数据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4940EF-0C79-400E-8FA5-5A80B056CB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313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221CDE-DF97-AC66-BE22-A73A3BDF6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新手打不过大</a:t>
            </a:r>
            <a:r>
              <a:rPr lang="en-US" altLang="zh-CN"/>
              <a:t>boss</a:t>
            </a:r>
            <a:r>
              <a:rPr lang="zh-CN" altLang="en-US"/>
              <a:t>，要循序渐进先升级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5D268F-BECB-D410-6EB1-C92A01EEEB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772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A85644A-7BD1-C226-5CF0-39F5D4C7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分组信息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3389E2-E9B0-6A4E-E2E0-381FDBED96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090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00DD6D3-2038-1D11-2CD5-A80E2ECD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找注释的函数</a:t>
            </a:r>
            <a:r>
              <a:rPr lang="en-US" altLang="zh-CN"/>
              <a:t>find_anno</a:t>
            </a:r>
            <a:r>
              <a:rPr lang="zh-CN" altLang="en-US"/>
              <a:t>，我写的字你得看啊啊啊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CA27C5-10E2-0F82-D8C1-4586A8FE31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206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2C4EE01-76A5-ABE6-D1E3-14C7EAB7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463861-AF2B-661A-099D-D02BD7E0222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732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8D5FC2E-630D-4FA4-CF21-DDB6FBE7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0">
                <a:solidFill>
                  <a:srgbClr val="FFFF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⭐</a:t>
            </a:r>
            <a:r>
              <a:rPr lang="zh-CN" altLang="en-US" sz="3600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探针注释：探针与基因的对应关系</a:t>
            </a:r>
            <a:endParaRPr lang="zh-CN" altLang="en-US" sz="3600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F3A900-73F7-4234-5974-59D7ED786B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072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0E66FAA-825A-C377-50DF-8B2A3780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+mn-lt"/>
                <a:ea typeface="+mn-ea"/>
                <a:cs typeface="+mn-ea"/>
                <a:sym typeface="+mn-lt"/>
              </a:rPr>
              <a:t>GPL570</a:t>
            </a:r>
            <a:endParaRPr kumimoji="1"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F7373A-7088-EE80-4AF7-4C2A6CB154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906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B75F5C0-0E5A-1C00-3751-8D40341EC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+mn-lt"/>
                <a:ea typeface="+mn-ea"/>
                <a:cs typeface="+mn-ea"/>
                <a:sym typeface="+mn-lt"/>
              </a:rPr>
              <a:t>GPL16956</a:t>
            </a:r>
            <a:endParaRPr kumimoji="1"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167B0F-4B7B-5DE9-125A-DD1E557FC9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042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234850B-E122-D85A-EAEF-E5CC82E6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自己找一个数据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11FFCA-F31F-6C5B-FC39-5263DEF67C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078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210F0EF-2B1D-4623-32B6-EAC091AE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探针注释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33448D-248E-C047-B1AC-8A18908CB8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7942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7F7D711-2A74-51F1-2155-3B323B58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自主注释流程（了解）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CB7F7B-7CE3-6C6A-3E15-121EDDDDC4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808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C6C0955-0082-AB17-CEEC-70DC0316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一个探针对应多个基因</a:t>
            </a:r>
            <a:r>
              <a:rPr lang="en-US" altLang="zh-CN" sz="3200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-</a:t>
            </a:r>
            <a:r>
              <a:rPr lang="zh-CN" altLang="en-US" sz="3200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非特异性探针</a:t>
            </a:r>
            <a:endParaRPr lang="zh-CN" altLang="en-US" sz="3200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6FE8E9-0042-FACE-94FB-FE28FC35C1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636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AA8D1DF-9D36-BC35-048F-A3B04086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PCA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样本聚类图 </a:t>
            </a:r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–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例图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A8DD16-A4B3-289F-DF67-E0204D3A47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10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6060222-56C5-8713-2487-5895E2AB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PCA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样本聚类图 </a:t>
            </a:r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–</a:t>
            </a:r>
            <a:r>
              <a:rPr lang="zh-CN" altLang="en-US"/>
              <a:t>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B71AE4-666B-F489-30CC-B84CEA3172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262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636BC2D-D531-FF6A-4B23-3E972E89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PCA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样本聚类图 </a:t>
            </a:r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–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示例数据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22A874-751B-728C-ED1F-5E05CC8DB0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13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909A10B-82EB-A57F-104E-290976FE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仿制示例数据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698714-E0BF-3A1C-906F-FDB4F6EA54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3979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C80C451-9C63-7A12-E1F0-1CA61EA1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差异分析后的数据整理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6258C4-1023-7276-A349-C7248DB1D0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738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0DE6473-4229-3443-7E90-BB44B9A5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探针注释：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多个探针对应一个基因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121171-137E-1716-1148-0DFF8E0FF1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498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F36AD51-DD3D-F224-378B-313A9F7B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聚类和分组的爱恨情仇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BBC16D-CE98-5D2D-3A0D-B1EFAD41FE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105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EAA49F5-91E1-2B5B-A264-2F4AB642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富集分析</a:t>
            </a:r>
            <a:endParaRPr lang="zh-CN" altLang="en-US" sz="320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05E866-4A07-E258-37EF-2E5F381F05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9819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E5CD850-0F4B-BED8-77AE-E74107925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富集分析</a:t>
            </a:r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-KEGG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数据库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4BB465-46F5-AF77-6BCE-C68349E213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419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CAB0C91-55EC-184C-83E5-116AB808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pathway hsa03030 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85A94B-ABB6-C529-0F61-4FD0B88984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396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35257F-62E2-A5F0-2A82-4E5EE42C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富集分析</a:t>
            </a:r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-GO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数据库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BA89F3-EA82-7B7E-8260-53111C84C5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590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0D09E4D-14EE-097E-CF4C-2866E96F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Y</a:t>
            </a:r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叔和</a:t>
            </a:r>
            <a:r>
              <a:rPr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clusterProfiler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E51BE5-DA47-D61A-52B1-2BF774C5ED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755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F56216-680F-11F0-77E9-D80B3160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富集分析结果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79A305-A817-354F-CB30-6DE296413A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324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EB4111A-D757-6AC9-FFF7-6A794E52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富集分析结果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7527DD-0502-B8EB-EF45-45984177FA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205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3F3FA8E-94C6-8C3C-BBB8-436C76F8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衡量每个通路里的基因在差异基因里是否足够多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BC60FB-DA35-595B-4F5E-589EE45002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301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C10B60C-25E4-8F25-38F7-38FEE13A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富集分析的理解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275453-61A6-C9C0-C9D2-25701771A5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29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3CBFCB2-22B2-21DD-2EA5-7934F0452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富集分析的可视化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C196EB-3D97-D809-1519-1E8FFCB2A5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2164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67B100B-2602-3FED-C50E-45038C56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富集分析的可视化</a:t>
            </a: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FCACFF-517D-52A5-8458-D7D01BE897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621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EB06D3-71DD-D7C6-575E-5C18A933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富集不到的补救秘籍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B6D3C2-88CB-3823-35CB-38F6D647D9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246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9E15FA9-E902-734D-F9E6-2312127D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问题数据和常见错误分析</a:t>
            </a:r>
            <a:endParaRPr kumimoji="1"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6A40C4-FF89-E149-BA13-B55EA42767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677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B657FB7-F325-A992-44D1-4BE7EB74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Part4-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复杂数据及其分析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7E4B37-F7C1-4F46-4733-7EB615F6B2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722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4F4CA4C-8DF6-ABF5-1207-AFDE198A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3AFBA7-4536-5BF8-C693-F3B4CCC58C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91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CF2955F-83CD-7FB7-D43A-56B392DEB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1.</a:t>
            </a:r>
            <a:r>
              <a:rPr kumimoji="1"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多分组数据</a:t>
            </a:r>
            <a:endParaRPr kumimoji="1"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EA04FB-4FE4-F8B6-9131-295EC28885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3414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BF666E2-7355-8283-1463-39E5A094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多分组数据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3FCE16-3F82-EC6C-2BEF-90B226B2A3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722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0C50F2-6719-1DE1-00BF-98383F25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多分组数据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6F5652-CC70-B8AB-91D8-5609B82F3F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0735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52E17B5-D89F-72FE-8357-4D5BB7DDE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kumimoji="1"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多数据联合分析</a:t>
            </a:r>
            <a:endParaRPr kumimoji="1"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127E70-BC02-F9EB-3D1F-B5DAC614B5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707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FFDE9DB-CCD5-A6BE-38DE-8E105F20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多数据联合分析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99F3F8-DFC0-0DDC-C29F-39E2B484A5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0469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EA711BD-8DBA-0E9C-E103-F83B13C7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多数据联合分析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03F2F7-CA60-C79A-CC19-683259BFDC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7484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C948D42-C264-FF21-31DF-24A22574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2.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多数据联合分析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1D0DF8-4BCC-0E98-7E7D-28450C82DA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4538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288A3B1-CEDB-10E1-049D-9B0E9809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去吧去吧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F86E05-D881-544A-9B60-04D23F6F44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161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0C021DB-02FA-DE22-5B78-E59002E7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</a:t>
            </a:r>
            <a:r>
              <a:rPr lang="zh-CN" altLang="en-US"/>
              <a:t>加权共表达网络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D8309F-DF09-4075-0122-0243ECF044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3017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7BEE6DB-A533-D363-0084-188B0877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1:</a:t>
            </a:r>
            <a:r>
              <a:rPr lang="zh-CN" altLang="en-US"/>
              <a:t>软阈值</a:t>
            </a:r>
            <a:r>
              <a:rPr lang="en-US" altLang="zh-CN"/>
              <a:t>β</a:t>
            </a:r>
            <a:r>
              <a:rPr lang="zh-CN" altLang="en-US"/>
              <a:t>的选择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F5D5AE-52AF-3717-9666-4378EAB6E5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7752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BB8998C-3514-CB7E-2C4C-9E9D303C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无标度网络和随机网络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C63A12-836A-716B-1EDD-0B12219CE0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2254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BF25154-E0BC-C658-EFBD-6CD16C4C3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2</a:t>
            </a:r>
            <a:r>
              <a:rPr lang="zh-CN" altLang="en-US"/>
              <a:t>：基因模块化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807579-A93F-D887-E50F-4647BE70DD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1873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ECB44DC-F7B5-A39C-AFDB-292D95E42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3</a:t>
            </a:r>
            <a:r>
              <a:rPr lang="zh-CN" altLang="en-US"/>
              <a:t>：模块与性状之间的关联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D24532-2D0D-9113-95C8-EEFD9D7B73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4288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7B0E8E2-2A61-A2B6-C0E2-F4E877FE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两种做法的相关性热图对比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837772-074C-6E37-CAEE-843FCAB12F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5036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024838F-9035-A268-A55F-D937E020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MM &amp; GS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3DFED1-6887-DA2E-9A95-A764859588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836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FE7FC2E-D16E-F748-8D45-6C275CE52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TOM-</a:t>
            </a:r>
            <a:r>
              <a:rPr lang="zh-CN" altLang="en-US"/>
              <a:t>拓扑重叠矩阵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96E9C5-2FD3-1F35-2391-3ED835E2F3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9786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D589851-09E9-49B8-7F9E-62CC674F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4.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蛋白互作网络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4D1B93-C583-0B25-6B4E-50F5448C62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9568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21D827E-BFCA-22E7-B5C0-6BA19B9A5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蛋白互作网络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A01B7F-DCFF-8F07-CD7F-E7912B07E9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6355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01A5409-CEC6-2C0E-DEB2-7104EF72D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制作</a:t>
            </a:r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string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输入数据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7DD738-E94A-0AB8-1BF4-E0769213DD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8676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83DEC74-D026-4281-5E56-724ED443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string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网站的使用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EA603D-A7B6-0495-CC4B-5D695A1618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676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84DB413-5582-61A9-85A7-BFFAC473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string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网站的使用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E75AD7-AF3C-751D-758D-30FCAA7030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4628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A8B1F5D-3416-7454-1274-84197E30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string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网站的使用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BC1A81-AC9E-4E08-C0D1-9092FCC36F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3743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1685DD8-B57C-AE70-D604-E6809913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string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网站的使用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4FBD60-0673-0931-2CE3-E0831A6698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8109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F7A3675-B0F4-BAA5-3615-E0564C71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string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网站的使用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1617EE-4330-D987-270E-0140973702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46218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26D7568-0825-50D6-B5D7-C99402A8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string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网站的使用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4216EB-0004-7670-88FA-DF12353AE2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1183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E72A97B-D82C-AEB3-AE8C-0EC59C5C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Cytoscape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属性表格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C70535-272B-F675-1977-1F75416462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97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60DE68B-AFFD-D982-9D35-48AA82AD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导入网络文件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36A56F-B772-26CD-8C88-516E83DADB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6313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EABC5A0-9EC8-D352-4B0C-B1B6B6018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导入网络文件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3A2AD4-8A01-3870-274E-FDE03316FA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5177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5408FCF-13A3-8F69-07C1-43E69284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导入属性表格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AB7F87-C941-3D46-4A51-AFF4A02862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5877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CF390DB-7F77-EEC1-F2A2-69F39DE5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导入节点信息文件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7C59A2-9127-D9D0-EC93-357ACE65B6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4317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43BD354-DBBB-8886-0188-24DD993B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形状设置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7D776E-D58A-4901-3752-3955250301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3414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7458EB3-DA04-02D9-A444-216A41A4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Cytoscape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装插件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B5ED40-E96E-042D-D280-5AA4E5B00E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3288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D6B385D-0096-4915-91EF-6206636BB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按照</a:t>
            </a:r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logFC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设置填充颜色</a:t>
            </a:r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(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可选</a:t>
            </a:r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)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A50B95-B01F-8616-0D74-9A3F0B7C91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6807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06BC351-3EFA-EDD4-A8D2-A18B1386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cytohubba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找</a:t>
            </a:r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hub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基因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8B1C98-4802-6D4A-92D5-21580BAF86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6410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2FCE134-F737-94AE-2546-A65D7FFF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MCODE</a:t>
            </a:r>
            <a:r>
              <a:rPr lang="zh-CN" altLang="en-US" b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找子网络</a:t>
            </a:r>
            <a:endParaRPr lang="zh-CN" altLang="en-US" b="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4A4233-EE54-AB79-0161-DC5F098CD5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1912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204E7C7-C71B-03D3-367B-D7EECC92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网络药理学的一点扩展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35EAC5-AA9E-EC02-7608-80420B5465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1110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70908E9-5C45-EA6D-2978-E0102A04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F5F3F6-9A75-508D-9BAF-83BB45636B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96007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A72F3DC-F8E4-B1DC-52B7-0D9A6D96E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积极的心理暗示，多找客观原因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B1E3F9-B918-8AF3-3240-3C59224BDF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5270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F22E301-150A-55BD-5408-C60F542F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3200">
                <a:latin typeface="+mn-lt"/>
                <a:ea typeface="+mn-ea"/>
                <a:cs typeface="+mn-ea"/>
                <a:sym typeface="+mn-lt"/>
              </a:rPr>
              <a:t>菜鸟第一步，生信技能树</a:t>
            </a:r>
            <a:endParaRPr lang="zh-CN" altLang="en-US" sz="32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7FC01B-172D-C652-6FA8-02F3095290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1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宽屏</PresentationFormat>
  <Paragraphs>126</Paragraphs>
  <Slides>131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131</vt:i4>
      </vt:variant>
    </vt:vector>
  </HeadingPairs>
  <TitlesOfParts>
    <vt:vector size="137" baseType="lpstr">
      <vt:lpstr>等线</vt:lpstr>
      <vt:lpstr>等线 Light</vt:lpstr>
      <vt:lpstr>思源黑体 CN Bold</vt:lpstr>
      <vt:lpstr>思源黑体 CN Medium</vt:lpstr>
      <vt:lpstr>Arial</vt:lpstr>
      <vt:lpstr>Office 主题​​</vt:lpstr>
      <vt:lpstr>生信初中-GEO数据挖掘</vt:lpstr>
      <vt:lpstr>PowerPoint 演示文稿</vt:lpstr>
      <vt:lpstr>为什么要做数据挖掘</vt:lpstr>
      <vt:lpstr>广义的基因有6w+个</vt:lpstr>
      <vt:lpstr>表达矩阵</vt:lpstr>
      <vt:lpstr>数据从哪里来</vt:lpstr>
      <vt:lpstr>有什么类型的数据可挖掘</vt:lpstr>
      <vt:lpstr>怎样筛选基因</vt:lpstr>
      <vt:lpstr>1.图表介绍</vt:lpstr>
      <vt:lpstr>1.热图</vt:lpstr>
      <vt:lpstr>2.散点图和箱线图</vt:lpstr>
      <vt:lpstr>箱线图</vt:lpstr>
      <vt:lpstr>箱线图:单个基因在两组之间的表达量差异</vt:lpstr>
      <vt:lpstr>多基因？差异分析</vt:lpstr>
      <vt:lpstr>3.火山图</vt:lpstr>
      <vt:lpstr>Foldchange（FC）：处理组平均值/对照组平均值 log2Foldchange（logFC）： Foldchange取log2</vt:lpstr>
      <vt:lpstr>芯片差异分析的起点是一个取过log的表达矩阵 如果拿到的是未log的矩阵，需要自行log</vt:lpstr>
      <vt:lpstr>理解 logFC</vt:lpstr>
      <vt:lpstr>纵坐标已经是log后的表达量，两个基因的logFC等于？</vt:lpstr>
      <vt:lpstr>理解 logFC</vt:lpstr>
      <vt:lpstr>理解 logFC</vt:lpstr>
      <vt:lpstr>离离原上谱，因能力不足导致的学术造假</vt:lpstr>
      <vt:lpstr>师生关系的最高境界</vt:lpstr>
      <vt:lpstr>3.火山图</vt:lpstr>
      <vt:lpstr>logFC的常见阈值，没有标准答案</vt:lpstr>
      <vt:lpstr>3.火山图</vt:lpstr>
      <vt:lpstr>3.火山图</vt:lpstr>
      <vt:lpstr>3.火山图</vt:lpstr>
      <vt:lpstr>短暂的懵圈圈预警</vt:lpstr>
      <vt:lpstr>4.主成分分析</vt:lpstr>
      <vt:lpstr>PowerPoint 演示文稿</vt:lpstr>
      <vt:lpstr>4.PCA样本聚类图</vt:lpstr>
      <vt:lpstr>4.主成分分析</vt:lpstr>
      <vt:lpstr>图上的点代表样本（中心点除外）， 点与点之间的距离代表样本与样本之间的差异</vt:lpstr>
      <vt:lpstr>用于“预实验”，简单查看组间是否有差别</vt:lpstr>
      <vt:lpstr>后生可畏！O(∩_∩)O哈哈~</vt:lpstr>
      <vt:lpstr>2. GEO背景知识+表达芯片分析思路</vt:lpstr>
      <vt:lpstr>1.表达数据实验设计</vt:lpstr>
      <vt:lpstr>2.数据库介绍</vt:lpstr>
      <vt:lpstr>2.数据库介绍</vt:lpstr>
      <vt:lpstr>2.数据库介绍</vt:lpstr>
      <vt:lpstr>2.数据库介绍</vt:lpstr>
      <vt:lpstr>基因表达芯片的原理</vt:lpstr>
      <vt:lpstr>分析思路</vt:lpstr>
      <vt:lpstr>Q：为什么不能画全部基因的热图</vt:lpstr>
      <vt:lpstr>为什么不能画全部基因的热图</vt:lpstr>
      <vt:lpstr>别人用过的数据我就不能用了吗</vt:lpstr>
      <vt:lpstr>PowerPoint 演示文稿</vt:lpstr>
      <vt:lpstr>3.表达矩阵</vt:lpstr>
      <vt:lpstr>3.代码分析流程</vt:lpstr>
      <vt:lpstr>芯片差异分析所需的输入数据</vt:lpstr>
      <vt:lpstr>代码分析流程</vt:lpstr>
      <vt:lpstr>如何查找数据</vt:lpstr>
      <vt:lpstr>认准表达芯片数据</vt:lpstr>
      <vt:lpstr>检查表达矩阵是否正常</vt:lpstr>
      <vt:lpstr>处理异常样本</vt:lpstr>
      <vt:lpstr>关于表达矩阵里的负值</vt:lpstr>
      <vt:lpstr>表达矩阵与临床信息表格</vt:lpstr>
      <vt:lpstr>关于原始数据</vt:lpstr>
      <vt:lpstr>新手打不过大boss，要循序渐进先升级</vt:lpstr>
      <vt:lpstr>分组信息</vt:lpstr>
      <vt:lpstr>找注释的函数find_anno，我写的字你得看啊啊啊</vt:lpstr>
      <vt:lpstr>PowerPoint 演示文稿</vt:lpstr>
      <vt:lpstr>⭐探针注释：探针与基因的对应关系</vt:lpstr>
      <vt:lpstr>GPL570</vt:lpstr>
      <vt:lpstr>GPL16956</vt:lpstr>
      <vt:lpstr>自己找一个数据</vt:lpstr>
      <vt:lpstr>探针注释</vt:lpstr>
      <vt:lpstr>自主注释流程（了解）</vt:lpstr>
      <vt:lpstr>一个探针对应多个基因-非特异性探针</vt:lpstr>
      <vt:lpstr>PCA样本聚类图 –例图</vt:lpstr>
      <vt:lpstr>PCA样本聚类图 –代码</vt:lpstr>
      <vt:lpstr>PCA样本聚类图 –示例数据</vt:lpstr>
      <vt:lpstr>仿制示例数据</vt:lpstr>
      <vt:lpstr>差异分析后的数据整理</vt:lpstr>
      <vt:lpstr>探针注释：多个探针对应一个基因</vt:lpstr>
      <vt:lpstr>聚类和分组的爱恨情仇</vt:lpstr>
      <vt:lpstr>富集分析</vt:lpstr>
      <vt:lpstr>富集分析-KEGG数据库</vt:lpstr>
      <vt:lpstr>pathway hsa03030 </vt:lpstr>
      <vt:lpstr>富集分析-GO数据库</vt:lpstr>
      <vt:lpstr>Y叔和clusterProfiler</vt:lpstr>
      <vt:lpstr>富集分析结果</vt:lpstr>
      <vt:lpstr>富集分析结果</vt:lpstr>
      <vt:lpstr>衡量每个通路里的基因在差异基因里是否足够多</vt:lpstr>
      <vt:lpstr>富集分析的理解</vt:lpstr>
      <vt:lpstr>富集分析的可视化</vt:lpstr>
      <vt:lpstr>富集分析的可视化</vt:lpstr>
      <vt:lpstr>富集不到的补救秘籍</vt:lpstr>
      <vt:lpstr>问题数据和常见错误分析</vt:lpstr>
      <vt:lpstr>Part4-复杂数据及其分析</vt:lpstr>
      <vt:lpstr>PowerPoint 演示文稿</vt:lpstr>
      <vt:lpstr>1.多分组数据</vt:lpstr>
      <vt:lpstr>2.多分组数据</vt:lpstr>
      <vt:lpstr>2.多分组数据</vt:lpstr>
      <vt:lpstr>2.多数据联合分析</vt:lpstr>
      <vt:lpstr>2.多数据联合分析</vt:lpstr>
      <vt:lpstr>2.多数据联合分析</vt:lpstr>
      <vt:lpstr>2.多数据联合分析</vt:lpstr>
      <vt:lpstr>去吧去吧</vt:lpstr>
      <vt:lpstr>3.加权共表达网络</vt:lpstr>
      <vt:lpstr>图1:软阈值β的选择</vt:lpstr>
      <vt:lpstr>无标度网络和随机网络</vt:lpstr>
      <vt:lpstr>图2：基因模块化</vt:lpstr>
      <vt:lpstr>图3：模块与性状之间的关联</vt:lpstr>
      <vt:lpstr>两种做法的相关性热图对比</vt:lpstr>
      <vt:lpstr>图4：MM &amp; GS</vt:lpstr>
      <vt:lpstr>图5：TOM-拓扑重叠矩阵</vt:lpstr>
      <vt:lpstr>4.蛋白互作网络</vt:lpstr>
      <vt:lpstr>蛋白互作网络</vt:lpstr>
      <vt:lpstr>制作string输入数据</vt:lpstr>
      <vt:lpstr>string网站的使用</vt:lpstr>
      <vt:lpstr>string网站的使用</vt:lpstr>
      <vt:lpstr>string网站的使用</vt:lpstr>
      <vt:lpstr>string网站的使用</vt:lpstr>
      <vt:lpstr>string网站的使用</vt:lpstr>
      <vt:lpstr>string网站的使用</vt:lpstr>
      <vt:lpstr>Cytoscape属性表格</vt:lpstr>
      <vt:lpstr>导入网络文件</vt:lpstr>
      <vt:lpstr>导入网络文件</vt:lpstr>
      <vt:lpstr>导入属性表格</vt:lpstr>
      <vt:lpstr>导入节点信息文件</vt:lpstr>
      <vt:lpstr>形状设置</vt:lpstr>
      <vt:lpstr>Cytoscape装插件</vt:lpstr>
      <vt:lpstr>按照logFC设置填充颜色(可选)</vt:lpstr>
      <vt:lpstr>cytohubba找hub基因</vt:lpstr>
      <vt:lpstr>MCODE找子网络</vt:lpstr>
      <vt:lpstr>网络药理学的一点扩展</vt:lpstr>
      <vt:lpstr>PowerPoint 演示文稿</vt:lpstr>
      <vt:lpstr>积极的心理暗示，多找客观原因</vt:lpstr>
      <vt:lpstr>菜鸟第一步，生信技能树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准备工作</dc:title>
  <dc:creator>xiaojie sun</dc:creator>
  <cp:lastModifiedBy>xiaojie sun</cp:lastModifiedBy>
  <cp:revision>2</cp:revision>
  <dcterms:created xsi:type="dcterms:W3CDTF">2024-04-16T11:20:44Z</dcterms:created>
  <dcterms:modified xsi:type="dcterms:W3CDTF">2024-04-16T13:59:24Z</dcterms:modified>
</cp:coreProperties>
</file>